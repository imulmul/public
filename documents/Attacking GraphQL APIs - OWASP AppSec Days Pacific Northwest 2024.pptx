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Nunit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Nunito-boldItalic.fntdata"/><Relationship Id="rId61" Type="http://schemas.openxmlformats.org/officeDocument/2006/relationships/font" Target="fonts/Nunit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Nunit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Nunito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98aeb95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c98aeb95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98aeb950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98aeb950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d70a0c7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6d70a0c7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d70a0c77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d70a0c77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d70a0c77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6d70a0c77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d70a0c7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d70a0c7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d70a0c77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d70a0c77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5c97806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e5c97806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d70a0c77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d70a0c77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d70a0c77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d70a0c77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d70a0c77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d70a0c77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d70a0c77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d70a0c77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15c490c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15c490c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d70a0c77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d70a0c77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d70a0c77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d70a0c77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d70a0c77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d70a0c77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d70a0c77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d70a0c77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d70a0c77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d70a0c77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d70a0c77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d70a0c77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d8cdf9f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d8cdf9f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d8cdf9f6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d8cdf9f6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d8cdf9f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6d8cdf9f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d8cdf9f6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d8cdf9f6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5c978062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5c978062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d8cdf9f6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6d8cdf9f6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e1ee6c6d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6e1ee6c6d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e1ee6c6d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e1ee6c6d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e267d67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6e267d67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e1ee6c6d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e1ee6c6d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6e1ee6c6d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6e1ee6c6d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e1ee6c6d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6e1ee6c6d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6e1ee6c6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6e1ee6c6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6e1ee6c6d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6e1ee6c6d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6e1ee6c6d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6e1ee6c6d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6e1ee6c6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6e1ee6c6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e1ee6c6d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e1ee6c6d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6e1ee6c6d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6e1ee6c6d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6e1ee6c6d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6e1ee6c6d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e5c97806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e5c97806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5c978062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e5c978062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5c97806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5c97806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e5c978062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e5c978062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e5c978062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e5c978062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e5c978062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e5c978062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5c978062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e5c978062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e5c978062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e5c978062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6e1ee6c6d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6e1ee6c6d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6e1ee6c6d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6e1ee6c6d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6e1ee6c6d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6e1ee6c6d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6e1ee6c6d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6e1ee6c6d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6e1ee6c6d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6e1ee6c6d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6e1ee6c6d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6e1ee6c6d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6e1ee6c6d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6e1ee6c6d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311700" y="2834125"/>
            <a:ext cx="8520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8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Mazin Ahmed</a:t>
            </a:r>
            <a:endParaRPr b="1" sz="3108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WHERE?</a:t>
            </a:r>
            <a:endParaRPr b="1" sz="26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mazin@mazinahmed.net | @mazen160</a:t>
            </a:r>
            <a:endParaRPr sz="175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78">
                <a:latin typeface="Nunito"/>
                <a:ea typeface="Nunito"/>
                <a:cs typeface="Nunito"/>
                <a:sym typeface="Nunito"/>
              </a:rPr>
              <a:t>TITLE</a:t>
            </a:r>
            <a:endParaRPr b="1" sz="5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Nunito"/>
                <a:ea typeface="Nunito"/>
                <a:cs typeface="Nunito"/>
                <a:sym typeface="Nunito"/>
              </a:rPr>
              <a:t>SUBTITLE</a:t>
            </a:r>
            <a:endParaRPr sz="2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0" y="4675375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TITLE													     Mazin Ahmed, YYYY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https://fullhunt.io/img/fullhunt.png"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91813" y="4223417"/>
            <a:ext cx="2760374" cy="9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zin's Template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Nunito"/>
              <a:buNone/>
              <a:defRPr sz="4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zin's Template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unito"/>
              <a:buNone/>
              <a:defRPr b="1" sz="2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675375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Attacking GraphQL APIs</a:t>
            </a:r>
            <a:r>
              <a:rPr lang="en-GB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											     Mazin Ahmed, 2024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Relationship Id="rId4" Type="http://schemas.openxmlformats.org/officeDocument/2006/relationships/hyperlink" Target="https://bit.ly/3RsoEKk" TargetMode="External"/><Relationship Id="rId5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Attacking GraphQL APIs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2834125"/>
            <a:ext cx="8520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8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Mazin Ahmed</a:t>
            </a:r>
            <a:endParaRPr b="1" sz="3108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OWASP AppSec Days Pacific Northwest 2024</a:t>
            </a:r>
            <a:endParaRPr b="1" sz="26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mazin@mazinahmed.net | @mazen160</a:t>
            </a:r>
            <a:endParaRPr sz="175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AM I?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Mazin Ahmed</a:t>
            </a:r>
            <a:endParaRPr b="1" sz="2300"/>
          </a:p>
          <a:p>
            <a:pPr indent="-3429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AppSec Engineering at Chime</a:t>
            </a:r>
            <a:endParaRPr b="1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Founder of FullHunt</a:t>
            </a:r>
            <a:endParaRPr b="1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Occasional Bug Bounty Hunter: acknowledged by Facebook, Twitter, LinkedIn, Zoom, and more</a:t>
            </a:r>
            <a:endParaRPr b="1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In love 💛 with Cloud security, security automation, DevSecOps, distributed systems, and Web-App security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USES GRAPHQL HERE? </a:t>
            </a:r>
            <a:r>
              <a:rPr lang="en-GB"/>
              <a:t>🤚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GraphQL?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0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query language for APIs.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GB" sz="1750"/>
              <a:t>The most popular query definition language for </a:t>
            </a:r>
            <a:r>
              <a:rPr lang="en-GB" sz="1750"/>
              <a:t>modern </a:t>
            </a:r>
            <a:r>
              <a:rPr lang="en-GB" sz="1750"/>
              <a:t>apps and tech stacks.</a:t>
            </a:r>
            <a:endParaRPr sz="175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Created</a:t>
            </a:r>
            <a:r>
              <a:rPr lang="en-GB"/>
              <a:t> by Meta in 2012.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Today, it’s used by: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100" y="2571746"/>
            <a:ext cx="1878450" cy="6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063" y="3312074"/>
            <a:ext cx="180853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788" y="2524298"/>
            <a:ext cx="235356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9350" y="3314825"/>
            <a:ext cx="2018292" cy="6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4600" y="2533477"/>
            <a:ext cx="1157900" cy="70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4600" y="3374525"/>
            <a:ext cx="1575475" cy="70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1044100" y="3992700"/>
            <a:ext cx="36624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i="1"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nd a lot more.</a:t>
            </a:r>
            <a:endParaRPr i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GraphQL?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GraphQL offers native flexibility, great API features, and endless possibilities for supporting application development.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24149"/>
            <a:ext cx="9144002" cy="1975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31529"/>
              <a:buNone/>
            </a:pPr>
            <a:r>
              <a:rPr i="1" lang="en-GB" sz="3140"/>
              <a:t>“</a:t>
            </a:r>
            <a:r>
              <a:rPr i="1" lang="en-GB" sz="3140"/>
              <a:t>With great power comes great responsibility”</a:t>
            </a:r>
            <a:endParaRPr i="1" sz="31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Why am I researching GraphQL security?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GraphQL 101: REST vs GraphQL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GraphQL-</a:t>
            </a:r>
            <a:r>
              <a:rPr b="1" lang="en-GB"/>
              <a:t>focused attack vectors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Exploiting GraphQL APIs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Open-Source Release 🚀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Recommendations – Defending against GraphQL attacks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Questions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Jargon 📝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Operation</a:t>
            </a:r>
            <a:endParaRPr b="1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GraphQL Query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GraphQL Mutation</a:t>
            </a:r>
            <a:endParaRPr b="1"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SDL (Schema definition language)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Operation/Query/Mutation Batching 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Aliases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700"/>
              <a:t>API Comparison: REST vs GraphQL</a:t>
            </a:r>
            <a:endParaRPr sz="1700"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026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b="1" lang="en-GB"/>
              <a:t>Querying data in GraphQL</a:t>
            </a:r>
            <a:r>
              <a:rPr b="1" lang="en-GB"/>
              <a:t> vs. REST API</a:t>
            </a:r>
            <a:endParaRPr b="1"/>
          </a:p>
        </p:txBody>
      </p:sp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b="8555" l="3411" r="3401" t="8547"/>
          <a:stretch/>
        </p:blipFill>
        <p:spPr>
          <a:xfrm>
            <a:off x="5940400" y="1359526"/>
            <a:ext cx="2891901" cy="257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" id="118" name="Google Shape;118;p22"/>
          <p:cNvPicPr preferRelativeResize="0"/>
          <p:nvPr/>
        </p:nvPicPr>
        <p:blipFill rotWithShape="1">
          <a:blip r:embed="rId4">
            <a:alphaModFix/>
          </a:blip>
          <a:srcRect b="9875" l="4410" r="5598" t="10936"/>
          <a:stretch/>
        </p:blipFill>
        <p:spPr>
          <a:xfrm>
            <a:off x="1072175" y="1986125"/>
            <a:ext cx="4301474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1679988" y="4032625"/>
            <a:ext cx="289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GraphQL Query Operation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6030350" y="4032625"/>
            <a:ext cx="271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REST API GET Request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700"/>
              <a:t>API Comparison: REST vs GraphQL</a:t>
            </a:r>
            <a:endParaRPr sz="1700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026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b="1" lang="en-GB"/>
              <a:t>Updating </a:t>
            </a:r>
            <a:r>
              <a:rPr b="1" lang="en-GB"/>
              <a:t>data in GraphQL vs. REST API</a:t>
            </a:r>
            <a:endParaRPr b="1"/>
          </a:p>
        </p:txBody>
      </p:sp>
      <p:sp>
        <p:nvSpPr>
          <p:cNvPr id="127" name="Google Shape;127;p23"/>
          <p:cNvSpPr txBox="1"/>
          <p:nvPr/>
        </p:nvSpPr>
        <p:spPr>
          <a:xfrm>
            <a:off x="1479875" y="4032625"/>
            <a:ext cx="3353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GraphQL Mutation Operation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5914025" y="4032625"/>
            <a:ext cx="2828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REST API POST Request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600" y="914075"/>
            <a:ext cx="3782400" cy="30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 rotWithShape="1">
          <a:blip r:embed="rId4">
            <a:alphaModFix/>
          </a:blip>
          <a:srcRect b="24470" l="3051" r="2484" t="3917"/>
          <a:stretch/>
        </p:blipFill>
        <p:spPr>
          <a:xfrm>
            <a:off x="698275" y="2317947"/>
            <a:ext cx="4455200" cy="15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700"/>
              <a:t>API Comparison: REST vs GraphQL</a:t>
            </a:r>
            <a:endParaRPr sz="1700"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026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b="1" lang="en-GB"/>
              <a:t>Updating data in GraphQL vs. REST API</a:t>
            </a:r>
            <a:endParaRPr b="1"/>
          </a:p>
        </p:txBody>
      </p:sp>
      <p:sp>
        <p:nvSpPr>
          <p:cNvPr id="137" name="Google Shape;137;p24"/>
          <p:cNvSpPr txBox="1"/>
          <p:nvPr/>
        </p:nvSpPr>
        <p:spPr>
          <a:xfrm>
            <a:off x="969550" y="3962575"/>
            <a:ext cx="3653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GraphQL Mutation Operation - Asking for fields in response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5914025" y="4032625"/>
            <a:ext cx="2828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REST API POST Request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600" y="914075"/>
            <a:ext cx="3782400" cy="30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 rotWithShape="1">
          <a:blip r:embed="rId4">
            <a:alphaModFix/>
          </a:blip>
          <a:srcRect b="7162" l="0" r="7382" t="7162"/>
          <a:stretch/>
        </p:blipFill>
        <p:spPr>
          <a:xfrm>
            <a:off x="467150" y="1539013"/>
            <a:ext cx="4358201" cy="239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Attacking GraphQL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Attacking</a:t>
            </a:r>
            <a:r>
              <a:rPr lang="en-GB"/>
              <a:t> GraphQL</a:t>
            </a:r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1209900" y="2992650"/>
            <a:ext cx="6724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How do you feel about your company’s GraphQL Security?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Attacking GraphQL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GraphQL APIs attack surface is massive.</a:t>
            </a:r>
            <a:endParaRPr b="1" sz="19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There are several </a:t>
            </a:r>
            <a:r>
              <a:rPr b="1" lang="en-GB">
                <a:solidFill>
                  <a:schemeClr val="dk1"/>
                </a:solidFill>
              </a:rPr>
              <a:t>implementations</a:t>
            </a:r>
            <a:r>
              <a:rPr b="1" lang="en-GB">
                <a:solidFill>
                  <a:schemeClr val="dk1"/>
                </a:solidFill>
              </a:rPr>
              <a:t> depending on the backend language, framework, and configurations.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Not all configurations are secure-by-default.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There are GraphQL attacks that are harder to remediate with basic configuration changes.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Generic </a:t>
            </a:r>
            <a:r>
              <a:rPr lang="en-GB"/>
              <a:t>Server-side vulnerabilities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All generic server-side vulnerabilities applies to GraphQL.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For example: SQL </a:t>
            </a:r>
            <a:r>
              <a:rPr b="1" lang="en-GB"/>
              <a:t>Injection, RCE, IDOR Path Traversal, SSRF, File upload issues</a:t>
            </a:r>
            <a:endParaRPr b="1"/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3">
            <a:alphaModFix/>
          </a:blip>
          <a:srcRect b="0" l="0" r="3410" t="0"/>
          <a:stretch/>
        </p:blipFill>
        <p:spPr>
          <a:xfrm>
            <a:off x="2067250" y="1963950"/>
            <a:ext cx="5090677" cy="23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Limiting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Lack of rate limiting is a major issue in APIs (SOAP, REST, GraphQL, name your technology).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Limiting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91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imagine you’re trying to brute-force a password for an admin.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 rotWithShape="1">
          <a:blip r:embed="rId3">
            <a:alphaModFix/>
          </a:blip>
          <a:srcRect b="0" l="0" r="0" t="12930"/>
          <a:stretch/>
        </p:blipFill>
        <p:spPr>
          <a:xfrm>
            <a:off x="0" y="1440999"/>
            <a:ext cx="9144003" cy="273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Limiting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91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 rotWithShape="1">
          <a:blip r:embed="rId3">
            <a:alphaModFix/>
          </a:blip>
          <a:srcRect b="-1670" l="0" r="0" t="1670"/>
          <a:stretch/>
        </p:blipFill>
        <p:spPr>
          <a:xfrm>
            <a:off x="1935350" y="1003300"/>
            <a:ext cx="5266487" cy="33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Limiting: Alias Batching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91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GraphQL Aliases is a feature that simplifies Query management within client/server communication.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900" y="1795666"/>
            <a:ext cx="4654175" cy="19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Limiting: Alias Batching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91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GraphQL Aliases can be exploited to bypass Rate Limiting protection.</a:t>
            </a:r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50" y="1476375"/>
            <a:ext cx="697230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42817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</a:t>
            </a:r>
            <a:r>
              <a:rPr lang="en-GB"/>
              <a:t>API Attack Surface Exposure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API Attack Surface Exposure</a:t>
            </a:r>
            <a:endParaRPr/>
          </a:p>
        </p:txBody>
      </p:sp>
      <p:pic>
        <p:nvPicPr>
          <p:cNvPr id="209" name="Google Shape;209;p35"/>
          <p:cNvPicPr preferRelativeResize="0"/>
          <p:nvPr/>
        </p:nvPicPr>
        <p:blipFill rotWithShape="1">
          <a:blip r:embed="rId3">
            <a:alphaModFix/>
          </a:blip>
          <a:srcRect b="8093" l="3475" r="4351" t="3074"/>
          <a:stretch/>
        </p:blipFill>
        <p:spPr>
          <a:xfrm>
            <a:off x="1976200" y="1692063"/>
            <a:ext cx="5191575" cy="175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API Attack Surface Exposure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Documentation is a major challenge for APIs.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There are automated tools to help documentation, eg.. OpenAPI Format, Swagger.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API documentation is not there, we would need 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Brute-Force endpoints, parameters, spend hours on fuzzing, yet not having </a:t>
            </a:r>
            <a:r>
              <a:rPr lang="en-GB"/>
              <a:t>full</a:t>
            </a:r>
            <a:r>
              <a:rPr lang="en-GB"/>
              <a:t> visibility.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Intercept traffic on web and mobile apps.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OSINT.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7"/>
          <p:cNvPicPr preferRelativeResize="0"/>
          <p:nvPr/>
        </p:nvPicPr>
        <p:blipFill rotWithShape="1">
          <a:blip r:embed="rId3">
            <a:alphaModFix/>
          </a:blip>
          <a:srcRect b="2809" l="0" r="0" t="0"/>
          <a:stretch/>
        </p:blipFill>
        <p:spPr>
          <a:xfrm>
            <a:off x="1806650" y="1017725"/>
            <a:ext cx="5758152" cy="371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what Github public GraphQL schema look like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Introspection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311700" y="1152475"/>
            <a:ext cx="4770900" cy="3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GraphQL, a native feature called </a:t>
            </a:r>
            <a:r>
              <a:rPr b="1" lang="en-GB"/>
              <a:t>Introspection </a:t>
            </a:r>
            <a:r>
              <a:rPr lang="en-GB"/>
              <a:t>that allows you to query the schema.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an API has Introspection enabled, you can learn about the API schema </a:t>
            </a:r>
            <a:r>
              <a:rPr lang="en-GB"/>
              <a:t>without spending time on fuzzing.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Introspection is helpful for development and public APIs, but it should be </a:t>
            </a:r>
            <a:r>
              <a:rPr b="1" lang="en-GB"/>
              <a:t>disabled</a:t>
            </a:r>
            <a:r>
              <a:rPr lang="en-GB"/>
              <a:t> for private GraphQL APIs.</a:t>
            </a: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 rotWithShape="1">
          <a:blip r:embed="rId3">
            <a:alphaModFix/>
          </a:blip>
          <a:srcRect b="0" l="0" r="0" t="1137"/>
          <a:stretch/>
        </p:blipFill>
        <p:spPr>
          <a:xfrm>
            <a:off x="6413225" y="864575"/>
            <a:ext cx="1997200" cy="37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Introspection</a:t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311700" y="1152475"/>
            <a:ext cx="519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If GraphQL introspection is disabled on production, it’s a good idea to check if QA/Staging/Dev APIs have it disabled too. </a:t>
            </a:r>
            <a:br>
              <a:rPr lang="en-GB"/>
            </a:br>
            <a:br>
              <a:rPr lang="en-GB"/>
            </a:br>
            <a:r>
              <a:rPr lang="en-GB"/>
              <a:t>Most likely QA APIs would allow it, and it will expose the full schema.</a:t>
            </a:r>
            <a:endParaRPr b="1"/>
          </a:p>
        </p:txBody>
      </p:sp>
      <p:pic>
        <p:nvPicPr>
          <p:cNvPr id="235" name="Google Shape;235;p39"/>
          <p:cNvPicPr preferRelativeResize="0"/>
          <p:nvPr/>
        </p:nvPicPr>
        <p:blipFill rotWithShape="1">
          <a:blip r:embed="rId3">
            <a:alphaModFix/>
          </a:blip>
          <a:srcRect b="0" l="0" r="0" t="1137"/>
          <a:stretch/>
        </p:blipFill>
        <p:spPr>
          <a:xfrm>
            <a:off x="6413225" y="864575"/>
            <a:ext cx="1997200" cy="37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Field Guessing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311700" y="1152475"/>
            <a:ext cx="4770900" cy="3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Introspection is disabled, we can still find ways to enumerate schema and discover with field guessing.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</a:t>
            </a:r>
            <a:r>
              <a:rPr lang="en-GB"/>
              <a:t>lairvoyance tool by Nikita Stupin automates GraphQL Field Guessing attack and generates a SDL (Schema Definition Language) file for other GraphQL visualizers.</a:t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400" y="1152475"/>
            <a:ext cx="3756599" cy="2518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API Exposure Monitoring</a:t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152475"/>
            <a:ext cx="519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By sending </a:t>
            </a:r>
            <a:r>
              <a:rPr b="1" lang="en-GB"/>
              <a:t>Introspection queries</a:t>
            </a:r>
            <a:r>
              <a:rPr lang="en-GB"/>
              <a:t> on a frequent basis, you can work on compare different results for changes and exposure to </a:t>
            </a:r>
            <a:r>
              <a:rPr b="1" lang="en-GB"/>
              <a:t>identify new</a:t>
            </a:r>
            <a:r>
              <a:rPr lang="en-GB"/>
              <a:t> and </a:t>
            </a:r>
            <a:r>
              <a:rPr b="1" lang="en-GB"/>
              <a:t>updated</a:t>
            </a:r>
            <a:r>
              <a:rPr lang="en-GB"/>
              <a:t> </a:t>
            </a:r>
            <a:r>
              <a:rPr b="1" lang="en-GB"/>
              <a:t>GraphQL Queries, Mutations, and Subscriptions.</a:t>
            </a:r>
            <a:endParaRPr b="1"/>
          </a:p>
        </p:txBody>
      </p:sp>
      <p:pic>
        <p:nvPicPr>
          <p:cNvPr id="249" name="Google Shape;249;p41"/>
          <p:cNvPicPr preferRelativeResize="0"/>
          <p:nvPr/>
        </p:nvPicPr>
        <p:blipFill rotWithShape="1">
          <a:blip r:embed="rId3">
            <a:alphaModFix/>
          </a:blip>
          <a:srcRect b="0" l="0" r="0" t="1137"/>
          <a:stretch/>
        </p:blipFill>
        <p:spPr>
          <a:xfrm>
            <a:off x="6413225" y="864575"/>
            <a:ext cx="1997200" cy="37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API Exposure Monitoring</a:t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311700" y="1152475"/>
            <a:ext cx="519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Companies may expose unprotected new operations, sensitive input arguments, sensitive PII fields of other users.</a:t>
            </a:r>
            <a:endParaRPr b="1"/>
          </a:p>
        </p:txBody>
      </p:sp>
      <p:pic>
        <p:nvPicPr>
          <p:cNvPr id="256" name="Google Shape;256;p42"/>
          <p:cNvPicPr preferRelativeResize="0"/>
          <p:nvPr/>
        </p:nvPicPr>
        <p:blipFill rotWithShape="1">
          <a:blip r:embed="rId3">
            <a:alphaModFix/>
          </a:blip>
          <a:srcRect b="0" l="0" r="0" t="1137"/>
          <a:stretch/>
        </p:blipFill>
        <p:spPr>
          <a:xfrm>
            <a:off x="6413225" y="864575"/>
            <a:ext cx="1997200" cy="37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267" name="Google Shape;26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GraphQL API Denial of Service attacks are trivial and challenging to prevent.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several variants of GraphQL DoS attacks today.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4"/>
          <p:cNvPicPr preferRelativeResize="0"/>
          <p:nvPr/>
        </p:nvPicPr>
        <p:blipFill rotWithShape="1">
          <a:blip r:embed="rId3">
            <a:alphaModFix/>
          </a:blip>
          <a:srcRect b="5123" l="0" r="0" t="0"/>
          <a:stretch/>
        </p:blipFill>
        <p:spPr>
          <a:xfrm>
            <a:off x="2193075" y="1887000"/>
            <a:ext cx="4757850" cy="23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311700" y="1152475"/>
            <a:ext cx="42603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approach is to force the GraphQL API to process expensive queries.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000" y="1648300"/>
            <a:ext cx="4267199" cy="184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281" name="Google Shape;281;p46"/>
          <p:cNvSpPr txBox="1"/>
          <p:nvPr>
            <p:ph idx="1" type="body"/>
          </p:nvPr>
        </p:nvSpPr>
        <p:spPr>
          <a:xfrm>
            <a:off x="311700" y="1152475"/>
            <a:ext cx="42603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Operation Batching variants: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Query/Mutation Batching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Array-Based Batching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Alias Batching</a:t>
            </a:r>
            <a:endParaRPr/>
          </a:p>
        </p:txBody>
      </p:sp>
      <p:pic>
        <p:nvPicPr>
          <p:cNvPr id="282" name="Google Shape;2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000" y="1648300"/>
            <a:ext cx="4267199" cy="184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288" name="Google Shape;288;p47"/>
          <p:cNvSpPr txBox="1"/>
          <p:nvPr>
            <p:ph idx="1" type="body"/>
          </p:nvPr>
        </p:nvSpPr>
        <p:spPr>
          <a:xfrm>
            <a:off x="311700" y="1152475"/>
            <a:ext cx="55917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Circular Relations/</a:t>
            </a:r>
            <a:r>
              <a:rPr lang="en-GB"/>
              <a:t>Dependency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Circular Dependency happens when multiple objects are depended on each other.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User object has a set of Orders.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And the Orders object references the User, then this can be exploited to force GraphQL API to run a complex query.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425" y="1966924"/>
            <a:ext cx="3071200" cy="10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7"/>
          <p:cNvPicPr preferRelativeResize="0"/>
          <p:nvPr/>
        </p:nvPicPr>
        <p:blipFill rotWithShape="1">
          <a:blip r:embed="rId4">
            <a:alphaModFix/>
          </a:blip>
          <a:srcRect b="0" l="3295" r="3621" t="15619"/>
          <a:stretch/>
        </p:blipFill>
        <p:spPr>
          <a:xfrm>
            <a:off x="6635500" y="3175725"/>
            <a:ext cx="1679049" cy="15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296" name="Google Shape;296;p48"/>
          <p:cNvSpPr txBox="1"/>
          <p:nvPr>
            <p:ph idx="1" type="body"/>
          </p:nvPr>
        </p:nvSpPr>
        <p:spPr>
          <a:xfrm>
            <a:off x="311700" y="1152475"/>
            <a:ext cx="57510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expensive queries can lead to a successful DoS attack.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Complex Queries: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🚨This query should send </a:t>
            </a:r>
            <a:r>
              <a:rPr b="1" lang="en-GB"/>
              <a:t>5,000 API calls</a:t>
            </a:r>
            <a:r>
              <a:rPr lang="en-GB"/>
              <a:t> internally🚨</a:t>
            </a:r>
            <a:endParaRPr/>
          </a:p>
        </p:txBody>
      </p:sp>
      <p:pic>
        <p:nvPicPr>
          <p:cNvPr id="297" name="Google Shape;297;p48"/>
          <p:cNvPicPr preferRelativeResize="0"/>
          <p:nvPr/>
        </p:nvPicPr>
        <p:blipFill rotWithShape="1">
          <a:blip r:embed="rId3">
            <a:alphaModFix/>
          </a:blip>
          <a:srcRect b="7146" l="11066" r="10176" t="6759"/>
          <a:stretch/>
        </p:blipFill>
        <p:spPr>
          <a:xfrm>
            <a:off x="6260300" y="646200"/>
            <a:ext cx="2605952" cy="38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303" name="Google Shape;303;p49"/>
          <p:cNvSpPr txBox="1"/>
          <p:nvPr>
            <p:ph idx="1" type="body"/>
          </p:nvPr>
        </p:nvSpPr>
        <p:spPr>
          <a:xfrm>
            <a:off x="311700" y="1152475"/>
            <a:ext cx="57510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Circular Relations/Dependency.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example sends out can be used to </a:t>
            </a:r>
            <a:r>
              <a:rPr lang="en-GB"/>
              <a:t>reference</a:t>
            </a:r>
            <a:r>
              <a:rPr lang="en-GB"/>
              <a:t> objects to cause resource </a:t>
            </a:r>
            <a:r>
              <a:rPr lang="en-GB"/>
              <a:t>exhaustion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/>
            </a:br>
            <a:r>
              <a:rPr lang="en-GB"/>
              <a:t>Circular </a:t>
            </a:r>
            <a:r>
              <a:rPr lang="en-GB"/>
              <a:t>Dependencies</a:t>
            </a:r>
            <a:r>
              <a:rPr lang="en-GB"/>
              <a:t> is an anti-pattern for non-rate limited APIs.</a:t>
            </a:r>
            <a:endParaRPr/>
          </a:p>
        </p:txBody>
      </p:sp>
      <p:pic>
        <p:nvPicPr>
          <p:cNvPr id="304" name="Google Shape;304;p49"/>
          <p:cNvPicPr preferRelativeResize="0"/>
          <p:nvPr/>
        </p:nvPicPr>
        <p:blipFill rotWithShape="1">
          <a:blip r:embed="rId3">
            <a:alphaModFix/>
          </a:blip>
          <a:srcRect b="4961" l="9369" r="9862" t="5168"/>
          <a:stretch/>
        </p:blipFill>
        <p:spPr>
          <a:xfrm>
            <a:off x="6647125" y="445025"/>
            <a:ext cx="2185181" cy="40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GraphQL Denial of Service Attacks</a:t>
            </a:r>
            <a:endParaRPr/>
          </a:p>
        </p:txBody>
      </p:sp>
      <p:sp>
        <p:nvSpPr>
          <p:cNvPr id="310" name="Google Shape;310;p50"/>
          <p:cNvSpPr txBox="1"/>
          <p:nvPr>
            <p:ph idx="1" type="body"/>
          </p:nvPr>
        </p:nvSpPr>
        <p:spPr>
          <a:xfrm>
            <a:off x="311700" y="1152475"/>
            <a:ext cx="534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more DoS attack variants 🙌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Field duplication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Fragments abuse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Directive overloading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User-controlled limits (which happens a lot)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Circular fragments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And more…</a:t>
            </a:r>
            <a:endParaRPr/>
          </a:p>
        </p:txBody>
      </p:sp>
      <p:pic>
        <p:nvPicPr>
          <p:cNvPr id="311" name="Google Shape;31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500" y="942200"/>
            <a:ext cx="3179100" cy="31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{{ Real-World Attacks }}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(Shopify) </a:t>
            </a:r>
            <a:r>
              <a:rPr lang="en-GB"/>
              <a:t>Field Exposure - Led to sensitive customer data leak</a:t>
            </a:r>
            <a:endParaRPr/>
          </a:p>
        </p:txBody>
      </p:sp>
      <p:sp>
        <p:nvSpPr>
          <p:cNvPr id="322" name="Google Shape;322;p52"/>
          <p:cNvSpPr txBox="1"/>
          <p:nvPr>
            <p:ph idx="1" type="body"/>
          </p:nvPr>
        </p:nvSpPr>
        <p:spPr>
          <a:xfrm>
            <a:off x="311700" y="1152475"/>
            <a:ext cx="305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Shopify had schema fields that are sensitive and lacked access control checks.</a:t>
            </a:r>
            <a:endParaRPr/>
          </a:p>
        </p:txBody>
      </p:sp>
      <p:pic>
        <p:nvPicPr>
          <p:cNvPr id="323" name="Google Shape;3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500" y="1017725"/>
            <a:ext cx="507481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(HackerOne) IDOR - Delete other hackers data</a:t>
            </a:r>
            <a:endParaRPr/>
          </a:p>
        </p:txBody>
      </p:sp>
      <p:sp>
        <p:nvSpPr>
          <p:cNvPr id="329" name="Google Shape;329;p53"/>
          <p:cNvSpPr txBox="1"/>
          <p:nvPr>
            <p:ph idx="1" type="body"/>
          </p:nvPr>
        </p:nvSpPr>
        <p:spPr>
          <a:xfrm>
            <a:off x="311700" y="1152475"/>
            <a:ext cx="305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HackerOne had a GraphQL access control vulnerability that allowed hackers to delete data of other hackers in the platform.</a:t>
            </a:r>
            <a:endParaRPr/>
          </a:p>
        </p:txBody>
      </p:sp>
      <p:pic>
        <p:nvPicPr>
          <p:cNvPr id="330" name="Google Shape;33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650" y="950188"/>
            <a:ext cx="446964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(GitLab) Unintended GraphQL query</a:t>
            </a:r>
            <a:endParaRPr/>
          </a:p>
        </p:txBody>
      </p:sp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311700" y="1152475"/>
            <a:ext cx="305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GitLab had a GraphQL query that can did not check access </a:t>
            </a:r>
            <a:r>
              <a:rPr lang="en-GB"/>
              <a:t>permissions</a:t>
            </a:r>
            <a:r>
              <a:rPr lang="en-GB"/>
              <a:t> of the authenticated user for “namespace” list query.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An attacker can retrieve out other members private data.</a:t>
            </a:r>
            <a:endParaRPr/>
          </a:p>
        </p:txBody>
      </p:sp>
      <p:pic>
        <p:nvPicPr>
          <p:cNvPr id="337" name="Google Shape;3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425" y="950188"/>
            <a:ext cx="4540383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IDOR</a:t>
            </a:r>
            <a:r>
              <a:rPr lang="en-GB"/>
              <a:t> Detection on GraphQL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IDOR</a:t>
            </a:r>
            <a:r>
              <a:rPr lang="en-GB" sz="3600"/>
              <a:t> Detection on GraphQL</a:t>
            </a:r>
            <a:endParaRPr/>
          </a:p>
        </p:txBody>
      </p:sp>
      <p:sp>
        <p:nvSpPr>
          <p:cNvPr id="348" name="Google Shape;348;p56"/>
          <p:cNvSpPr txBox="1"/>
          <p:nvPr>
            <p:ph idx="1" type="body"/>
          </p:nvPr>
        </p:nvSpPr>
        <p:spPr>
          <a:xfrm>
            <a:off x="311700" y="1152475"/>
            <a:ext cx="3593100" cy="3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analyzed hundreds of public </a:t>
            </a:r>
            <a:r>
              <a:rPr lang="en-GB"/>
              <a:t>vulnerability</a:t>
            </a:r>
            <a:r>
              <a:rPr lang="en-GB"/>
              <a:t> reports to learn about patterns in IDOR vulnerabilities.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built a </a:t>
            </a:r>
            <a:r>
              <a:rPr lang="en-GB"/>
              <a:t>ruleset</a:t>
            </a:r>
            <a:r>
              <a:rPr lang="en-GB"/>
              <a:t> of IDOR fields that has have been seen in previous public incidents.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now used in security tooling for annotating potential IDOR fields for security scanning.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56"/>
          <p:cNvPicPr preferRelativeResize="0"/>
          <p:nvPr/>
        </p:nvPicPr>
        <p:blipFill rotWithShape="1">
          <a:blip r:embed="rId3">
            <a:alphaModFix/>
          </a:blip>
          <a:srcRect b="21906" l="0" r="31801" t="0"/>
          <a:stretch/>
        </p:blipFill>
        <p:spPr>
          <a:xfrm>
            <a:off x="3805425" y="1017725"/>
            <a:ext cx="5186949" cy="401677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6"/>
          <p:cNvSpPr txBox="1"/>
          <p:nvPr/>
        </p:nvSpPr>
        <p:spPr>
          <a:xfrm>
            <a:off x="6550950" y="3988175"/>
            <a:ext cx="235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Download ruleset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3RsoEKk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1" name="Google Shape;35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6625" y="2349025"/>
            <a:ext cx="1639150" cy="16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PII Detection </a:t>
            </a:r>
            <a:r>
              <a:rPr lang="en-GB"/>
              <a:t>on GraphQL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PII</a:t>
            </a:r>
            <a:r>
              <a:rPr lang="en-GB" sz="3600"/>
              <a:t> Detection on GraphQL</a:t>
            </a:r>
            <a:endParaRPr/>
          </a:p>
        </p:txBody>
      </p:sp>
      <p:sp>
        <p:nvSpPr>
          <p:cNvPr id="362" name="Google Shape;362;p58"/>
          <p:cNvSpPr txBox="1"/>
          <p:nvPr>
            <p:ph idx="1" type="body"/>
          </p:nvPr>
        </p:nvSpPr>
        <p:spPr>
          <a:xfrm>
            <a:off x="311700" y="1152475"/>
            <a:ext cx="3593100" cy="3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have curated thousands of sources for secrets, API keys, sensitive data, </a:t>
            </a:r>
            <a:r>
              <a:rPr b="1" lang="en-GB"/>
              <a:t>PII data, and PII fields.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a generic ruleset for all sorts of tooling and projects.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use it for security tooling to </a:t>
            </a:r>
            <a:r>
              <a:rPr b="1" lang="en-GB"/>
              <a:t>annotate GraphQL PII fields for review.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175" y="1152475"/>
            <a:ext cx="5066255" cy="357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{{ Defenes }}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Defenses</a:t>
            </a:r>
            <a:endParaRPr/>
          </a:p>
        </p:txBody>
      </p:sp>
      <p:sp>
        <p:nvSpPr>
          <p:cNvPr id="374" name="Google Shape;37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60"/>
          <p:cNvPicPr preferRelativeResize="0"/>
          <p:nvPr/>
        </p:nvPicPr>
        <p:blipFill rotWithShape="1">
          <a:blip r:embed="rId3">
            <a:alphaModFix/>
          </a:blip>
          <a:srcRect b="23201" l="19854" r="19908" t="24164"/>
          <a:stretch/>
        </p:blipFill>
        <p:spPr>
          <a:xfrm>
            <a:off x="1817913" y="1762613"/>
            <a:ext cx="5508174" cy="16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Defenses</a:t>
            </a:r>
            <a:endParaRPr/>
          </a:p>
        </p:txBody>
      </p:sp>
      <p:sp>
        <p:nvSpPr>
          <p:cNvPr id="381" name="Google Shape;381;p61"/>
          <p:cNvSpPr txBox="1"/>
          <p:nvPr>
            <p:ph idx="1" type="body"/>
          </p:nvPr>
        </p:nvSpPr>
        <p:spPr>
          <a:xfrm>
            <a:off x="311700" y="1076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Service-level rate limiting: </a:t>
            </a:r>
            <a:r>
              <a:rPr lang="en-GB" sz="1500">
                <a:solidFill>
                  <a:schemeClr val="dk1"/>
                </a:solidFill>
              </a:rPr>
              <a:t>The golden rule, Rate Limiting defense should be on the service-level, not on the API level to avoid </a:t>
            </a:r>
            <a:r>
              <a:rPr lang="en-GB" sz="1500">
                <a:solidFill>
                  <a:schemeClr val="dk1"/>
                </a:solidFill>
              </a:rPr>
              <a:t>bypasses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Query Timeout: </a:t>
            </a:r>
            <a:r>
              <a:rPr lang="en-GB" sz="1500">
                <a:solidFill>
                  <a:schemeClr val="dk1"/>
                </a:solidFill>
              </a:rPr>
              <a:t>You can set a timeout on GraphQL queries.</a:t>
            </a:r>
            <a:endParaRPr sz="15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This needs to be tested properly, as internal calls may have been already initiated and will not be cancelled if the upstream API timed out.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Disable Batching: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This doesn’t mean that other variants can’t be abused.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Query cost analysis: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Can be harder to implement, but it’s still a good defense layer.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Maximum depth limits: This can prevent complex queries executions.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Defenses</a:t>
            </a:r>
            <a:endParaRPr/>
          </a:p>
        </p:txBody>
      </p:sp>
      <p:sp>
        <p:nvSpPr>
          <p:cNvPr id="387" name="Google Shape;38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775" y="1693863"/>
            <a:ext cx="512445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Defenses</a:t>
            </a:r>
            <a:endParaRPr/>
          </a:p>
        </p:txBody>
      </p:sp>
      <p:sp>
        <p:nvSpPr>
          <p:cNvPr id="394" name="Google Shape;39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775" y="1693863"/>
            <a:ext cx="512445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3"/>
          <p:cNvSpPr txBox="1"/>
          <p:nvPr/>
        </p:nvSpPr>
        <p:spPr>
          <a:xfrm>
            <a:off x="5584150" y="2096900"/>
            <a:ext cx="1550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NOT REAL :)</a:t>
            </a:r>
            <a:br>
              <a:rPr b="1" lang="en-GB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-GB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I </a:t>
            </a:r>
            <a:r>
              <a:rPr b="1" lang="en-GB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wish it was</a:t>
            </a:r>
            <a:endParaRPr b="1" sz="18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Thoughts</a:t>
            </a:r>
            <a:endParaRPr/>
          </a:p>
        </p:txBody>
      </p:sp>
      <p:sp>
        <p:nvSpPr>
          <p:cNvPr id="402" name="Google Shape;402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GraphQL is </a:t>
            </a:r>
            <a:r>
              <a:rPr lang="en-GB"/>
              <a:t>extremely</a:t>
            </a:r>
            <a:r>
              <a:rPr lang="en-GB"/>
              <a:t> powerful.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 security engineers, our job is to empower teams to run projects and adapt better technologies.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GraphQL needs a lot more attention across organizations.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408" name="Google Shape;408;p65"/>
          <p:cNvSpPr txBox="1"/>
          <p:nvPr/>
        </p:nvSpPr>
        <p:spPr>
          <a:xfrm>
            <a:off x="85625" y="3438275"/>
            <a:ext cx="256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>
                <a:latin typeface="Nunito"/>
                <a:ea typeface="Nunito"/>
                <a:cs typeface="Nunito"/>
                <a:sym typeface="Nunito"/>
              </a:rPr>
              <a:t>Mazin Ahmed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u="sng">
                <a:latin typeface="Nunito"/>
                <a:ea typeface="Nunito"/>
                <a:cs typeface="Nunito"/>
                <a:sym typeface="Nunito"/>
              </a:rPr>
              <a:t>mazin@mazinahmed.net </a:t>
            </a:r>
            <a:endParaRPr b="1" i="1" u="sng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Twitter</a:t>
            </a:r>
            <a:r>
              <a:rPr b="1" lang="en-GB"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1" lang="en-GB" u="sng">
                <a:latin typeface="Nunito"/>
                <a:ea typeface="Nunito"/>
                <a:cs typeface="Nunito"/>
                <a:sym typeface="Nunito"/>
              </a:rPr>
              <a:t>@mazen160</a:t>
            </a:r>
            <a:endParaRPr b="1" u="sng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sp>
        <p:nvSpPr>
          <p:cNvPr id="414" name="Google Shape;414;p66"/>
          <p:cNvSpPr txBox="1"/>
          <p:nvPr/>
        </p:nvSpPr>
        <p:spPr>
          <a:xfrm>
            <a:off x="85625" y="3438275"/>
            <a:ext cx="256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>
                <a:latin typeface="Nunito"/>
                <a:ea typeface="Nunito"/>
                <a:cs typeface="Nunito"/>
                <a:sym typeface="Nunito"/>
              </a:rPr>
              <a:t>Mazin Ahmed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u="sng">
                <a:latin typeface="Nunito"/>
                <a:ea typeface="Nunito"/>
                <a:cs typeface="Nunito"/>
                <a:sym typeface="Nunito"/>
              </a:rPr>
              <a:t>mazin@mazinahmed.net </a:t>
            </a:r>
            <a:endParaRPr b="1" i="1" u="sng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Twitter</a:t>
            </a:r>
            <a:r>
              <a:rPr b="1" lang="en-GB"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1" lang="en-GB" u="sng">
                <a:latin typeface="Nunito"/>
                <a:ea typeface="Nunito"/>
                <a:cs typeface="Nunito"/>
                <a:sym typeface="Nunito"/>
              </a:rPr>
              <a:t>@mazen160</a:t>
            </a:r>
            <a:endParaRPr b="1" u="sng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